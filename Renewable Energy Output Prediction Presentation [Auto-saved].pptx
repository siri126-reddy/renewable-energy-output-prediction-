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8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684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685" y="3107977"/>
            <a:ext cx="10090479" cy="6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0F172A"/>
                </a:solidFill>
                <a:latin typeface="Poppins"/>
              </a:rPr>
              <a:t>Renewable Energy Output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0725" y="3911798"/>
            <a:ext cx="8210550" cy="1258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1650" dirty="0">
                <a:solidFill>
                  <a:srgbClr val="475569"/>
                </a:solidFill>
                <a:latin typeface="Inter"/>
              </a:rPr>
              <a:t>                                                                                                                    K. Hemanth</a:t>
            </a:r>
          </a:p>
          <a:p>
            <a:pPr algn="ctr">
              <a:lnSpc>
                <a:spcPts val="2475"/>
              </a:lnSpc>
            </a:pPr>
            <a:r>
              <a:rPr lang="en-US" sz="1650" dirty="0">
                <a:solidFill>
                  <a:srgbClr val="475569"/>
                </a:solidFill>
                <a:latin typeface="Inter"/>
              </a:rPr>
              <a:t>                                                                                                                       D. Siri Reddy</a:t>
            </a:r>
          </a:p>
          <a:p>
            <a:pPr algn="ctr">
              <a:lnSpc>
                <a:spcPts val="2475"/>
              </a:lnSpc>
            </a:pPr>
            <a:endParaRPr lang="en-US" sz="1650" dirty="0">
              <a:solidFill>
                <a:srgbClr val="475569"/>
              </a:solidFill>
              <a:latin typeface="Inter"/>
            </a:endParaRPr>
          </a:p>
          <a:p>
            <a:pPr algn="ctr">
              <a:lnSpc>
                <a:spcPts val="2475"/>
              </a:lnSpc>
            </a:pPr>
            <a:endParaRPr sz="1650" b="0" i="0" u="none" dirty="0">
              <a:solidFill>
                <a:srgbClr val="475569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66987"/>
            <a:ext cx="5334000" cy="2552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66987"/>
            <a:ext cx="5334000" cy="2552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919412"/>
            <a:ext cx="486060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284C7"/>
                </a:solidFill>
                <a:latin typeface="Poppins SemiBold"/>
              </a:rPr>
              <a:t>Domain &amp; Objective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367087"/>
            <a:ext cx="462915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"Renewable Energy Output Prediction"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explicitly defines both the problem domain (wind &amp; solar energy generation) and the primary objective: estimating generated power output in Megawatts (MW) or Kilowatts (kW).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38925" y="2919412"/>
            <a:ext cx="486060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284C7"/>
                </a:solidFill>
                <a:latin typeface="Poppins SemiBold"/>
              </a:rPr>
              <a:t>Algorithmic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367087"/>
            <a:ext cx="462915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"Using XGBoost and LightGBM"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highlights the exact deployment of cutting-edge Gradient Boosted Decision Tree (GBDT) algorithms, recognized globally for superior benchmark accuracy on complex tabular time-series metrics.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Title Justification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Problem Statement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644229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59669"/>
                </a:solidFill>
                <a:latin typeface="Poppins SemiBold"/>
              </a:rPr>
              <a:t>Grid Volatility &amp; Intermittency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091904"/>
            <a:ext cx="528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Solar and wind power generation are inherently intermittent, fluctuating rapidly with changing meteorological conditions.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792884"/>
            <a:ext cx="528637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Accurate short- and medium-term forecasting helps electrical grid operators balance supply and demand, optimize energy storage dispatch, and prevent reliance on costly fossil-fuel peaker plants.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95575"/>
            <a:ext cx="5334000" cy="2295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95575"/>
            <a:ext cx="5334000" cy="2295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048000"/>
            <a:ext cx="486060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284C7"/>
                </a:solidFill>
                <a:latin typeface="Poppins SemiBold"/>
              </a:rPr>
              <a:t>XGBoost Superiority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495675"/>
            <a:ext cx="46291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Includes built-in L1/L2 regularization to prevent model overfitting on noisy sensor metrics. It reliably captures non-linear relationships between weather variables and energy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38925" y="3048000"/>
            <a:ext cx="486060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284C7"/>
                </a:solidFill>
                <a:latin typeface="Poppins SemiBold"/>
              </a:rPr>
              <a:t>LightGBM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495675"/>
            <a:ext cx="46291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Utilizes Gradient-based One-Side Sampling (GOSS) and Exclusive Feature Bundling (EFB). It dramatically accelerates training speed and lowers memory footprint on high-frequency datasets.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Why XGBoost &amp; LightGBM?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62212"/>
            <a:ext cx="3492549" cy="2762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462212"/>
            <a:ext cx="3492549" cy="2762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462212"/>
            <a:ext cx="3492549" cy="2762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7725" y="3452812"/>
            <a:ext cx="308710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Non-Linear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881437"/>
            <a:ext cx="29400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Handles complex interaction effects between wind velocity, ambient temperature, and solar irradiance without manual physical curve fitting.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6024" y="3452812"/>
            <a:ext cx="308710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Speed &amp; Iteration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024" y="3881437"/>
            <a:ext cx="29400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LightGBM enables rapid hyperparameter tuning and cross-validation across massive multi-year hourly time-series datasets.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4324" y="3452812"/>
            <a:ext cx="308710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Missing Data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4324" y="3881437"/>
            <a:ext cx="29400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Natively routes missing sensor records and telemetry gaps during tree split construction without aggressive imputation bias.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814637"/>
            <a:ext cx="400050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024" y="2814637"/>
            <a:ext cx="400050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4324" y="2814637"/>
            <a:ext cx="40005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Key Model Advantages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4E101-99CB-6B7D-E67E-D5F228250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Dataset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A3EF5F-194A-8BAB-7DAD-270AD7FC0B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01949" y="1743739"/>
                <a:ext cx="8229600" cy="4525963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en-IN" sz="1600" b="1" dirty="0"/>
                  <a:t>Target Variable</a:t>
                </a:r>
                <a:r>
                  <a:rPr lang="en-IN" sz="1600" dirty="0"/>
                  <a:t>: Continuous numerical output, such as Active Power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600" i="0"/>
                      <m:t>kW</m:t>
                    </m:r>
                  </m:oMath>
                </a14:m>
                <a:r>
                  <a:rPr lang="en-IN" sz="1600" dirty="0"/>
                  <a:t> or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600" i="0"/>
                      <m:t>MW</m:t>
                    </m:r>
                  </m:oMath>
                </a14:m>
                <a:r>
                  <a:rPr lang="en-IN" sz="1600" dirty="0"/>
                  <a:t>) or Energy Yield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600" i="0"/>
                      <m:t>kWh</m:t>
                    </m:r>
                  </m:oMath>
                </a14:m>
                <a:r>
                  <a:rPr lang="en-IN" sz="1600" dirty="0"/>
                  <a:t>).</a:t>
                </a:r>
              </a:p>
              <a:p>
                <a:pPr lvl="0"/>
                <a:r>
                  <a:rPr lang="en-IN" sz="1600" b="1" dirty="0"/>
                  <a:t>Meteorological Inputs</a:t>
                </a:r>
                <a:r>
                  <a:rPr lang="en-IN" sz="1600" dirty="0"/>
                  <a:t>:</a:t>
                </a:r>
              </a:p>
              <a:p>
                <a:pPr lvl="1"/>
                <a:r>
                  <a:rPr lang="en-IN" sz="1600" i="1" dirty="0"/>
                  <a:t>For Solar</a:t>
                </a:r>
                <a:r>
                  <a:rPr lang="en-IN" sz="1600" dirty="0"/>
                  <a:t>: Global Horizontal Irradiance (GHI), Direct Normal Irradiance (DNI), ambient temperature, cloud coverage, and relative humidity.</a:t>
                </a:r>
              </a:p>
              <a:p>
                <a:pPr lvl="1"/>
                <a:r>
                  <a:rPr lang="en-IN" sz="1600" i="1" dirty="0"/>
                  <a:t>For Wind</a:t>
                </a:r>
                <a:r>
                  <a:rPr lang="en-IN" sz="1600" dirty="0"/>
                  <a:t>: Wind speed (ideally at hub height), wind direction, air density, and atmospheric pressure.</a:t>
                </a:r>
              </a:p>
              <a:p>
                <a:pPr lvl="0"/>
                <a:r>
                  <a:rPr lang="en-IN" sz="1600" b="1" dirty="0"/>
                  <a:t>Temporal Features</a:t>
                </a:r>
                <a:r>
                  <a:rPr lang="en-IN" sz="1600" dirty="0"/>
                  <a:t>: Precise timestamps (15-minute to 1-hour intervals). Time-series tree models require granular timestamps so you can engineer features like hour of day, month, day of year, and lag variables (e.g., power output at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160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IN" sz="1600" dirty="0"/>
                  <a:t>or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1600">
                        <a:latin typeface="Cambria Math" panose="02040503050406030204" pitchFamily="18" charset="0"/>
                      </a:rPr>
                      <m:t>−24</m:t>
                    </m:r>
                  </m:oMath>
                </a14:m>
                <a:r>
                  <a:rPr lang="en-IN" sz="1600" dirty="0"/>
                  <a:t>).</a:t>
                </a:r>
              </a:p>
              <a:p>
                <a:r>
                  <a:rPr lang="en-IN" sz="1800" dirty="0"/>
                  <a:t>Sources:  Kaggle.com , NREL ,Nasa Power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A3EF5F-194A-8BAB-7DAD-270AD7FC0B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01949" y="1743739"/>
                <a:ext cx="8229600" cy="4525963"/>
              </a:xfrm>
              <a:blipFill>
                <a:blip r:embed="rId2"/>
                <a:stretch>
                  <a:fillRect l="-519" t="-4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3122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7925"/>
            <a:ext cx="11049000" cy="279082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457450"/>
          <a:ext cx="11029949" cy="2771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9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8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2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Feature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Specific Variables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Modeling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Temporal Drivers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Year, Month, Day, Hour of Day, Day of Year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Captures seasonal trends &amp; diurnal cycles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Meteorological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Wind Speed, Direction, Temperature, Irradiance (GHI/DHI)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Primary physical exogenous inputs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Lagged &amp; Rolling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Power(t-1), Power(t-24), 3h &amp; 24h Rolling Mean/Std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Captures autoregressive time-series memory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Target Variable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Actual Generated Power Output (MW or kW)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Continuous variable for regression output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052762"/>
            <a:ext cx="20590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640062" y="3052762"/>
            <a:ext cx="49784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18511" y="3052762"/>
            <a:ext cx="39924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595687"/>
            <a:ext cx="20590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40062" y="3595687"/>
            <a:ext cx="49784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18511" y="3595687"/>
            <a:ext cx="39924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138612"/>
            <a:ext cx="20590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40062" y="4138612"/>
            <a:ext cx="49784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18511" y="4138612"/>
            <a:ext cx="39924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681537"/>
            <a:ext cx="20590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40062" y="4681537"/>
            <a:ext cx="49784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18511" y="4681537"/>
            <a:ext cx="39924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Dataset Schema &amp; Feature 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05112"/>
            <a:ext cx="4198590" cy="2076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50" y="3205162"/>
            <a:ext cx="339849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sz="7500" b="1" i="0" u="none">
                <a:solidFill>
                  <a:srgbClr val="059669"/>
                </a:solidFill>
                <a:latin typeface="Poppins"/>
              </a:rPr>
              <a:t>87.6k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4252912"/>
            <a:ext cx="33984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65F46"/>
                </a:solidFill>
                <a:latin typeface="Inter SemiBold"/>
              </a:rPr>
              <a:t>Hourly Records (10 Years)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1590" y="2733675"/>
            <a:ext cx="659285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059669"/>
                </a:solidFill>
                <a:latin typeface="Poppins SemiBold"/>
              </a:rPr>
              <a:t>High-Density Tabular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1590" y="3181350"/>
            <a:ext cx="6278909" cy="238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dirty="0">
                <a:solidFill>
                  <a:srgbClr val="334155"/>
                </a:solidFill>
                <a:latin typeface="Inter"/>
              </a:rPr>
              <a:t>The Dataset contains 17 columns and 1,96,777 rows </a:t>
            </a:r>
            <a:endParaRPr sz="135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41590" y="4067175"/>
            <a:ext cx="627890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Inter"/>
              </a:rPr>
              <a:t>The total dataset memory footprint ranges between </a:t>
            </a:r>
            <a:r>
              <a:rPr sz="1350" b="1" i="0" u="none" dirty="0">
                <a:solidFill>
                  <a:srgbClr val="334155"/>
                </a:solidFill>
                <a:latin typeface="Inter"/>
              </a:rPr>
              <a:t>50 MB to several GBs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, providing optimal scale for gradient boosting without requiring distributed cluster computing.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F172A"/>
                </a:solidFill>
                <a:latin typeface="Poppins SemiBold"/>
              </a:rPr>
              <a:t>Dataset Scale &amp; Volume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536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Cambria Math</vt:lpstr>
      <vt:lpstr>Inter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Choosing Dataset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Hemanth</dc:creator>
  <cp:keywords/>
  <dc:description>generated using python-pptx</dc:description>
  <cp:lastModifiedBy>kasani hemanth</cp:lastModifiedBy>
  <cp:revision>3</cp:revision>
  <dcterms:created xsi:type="dcterms:W3CDTF">2013-01-27T09:14:16Z</dcterms:created>
  <dcterms:modified xsi:type="dcterms:W3CDTF">2026-09-28T17:53:50Z</dcterms:modified>
  <cp:category/>
</cp:coreProperties>
</file>